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73" r:id="rId5"/>
    <p:sldId id="257" r:id="rId6"/>
    <p:sldId id="258" r:id="rId7"/>
    <p:sldId id="266" r:id="rId8"/>
    <p:sldId id="259" r:id="rId9"/>
    <p:sldId id="260" r:id="rId10"/>
    <p:sldId id="262" r:id="rId11"/>
    <p:sldId id="264" r:id="rId12"/>
    <p:sldId id="265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457200"/>
            <a:ext cx="7772400" cy="1645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FULFILLMENT &amp;</a:t>
            </a:r>
            <a:endParaRPr lang="en-US" sz="4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0" indent="0" algn="l">
              <a:buNone/>
            </a:pPr>
            <a:r>
              <a:rPr lang="en-US" sz="4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LOGISTICS</a:t>
            </a:r>
            <a:endParaRPr lang="en-US" sz="4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Black" panose="020B0A04020102020204" pitchFamily="34" charset="0"/>
              <a:ea typeface="Arial Black" panose="020B0A04020102020204" pitchFamily="34" charset="-122"/>
              <a:cs typeface="Arial Black" panose="020B0A0402010202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7772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DATABASE PROJECT</a:t>
            </a:r>
            <a:endParaRPr lang="en-US" sz="24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7315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 Design, Queries &amp; Data Retrieval</a:t>
            </a:r>
            <a:endParaRPr 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325120" y="3337560"/>
            <a:ext cx="849439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/>
              <a:t>PRESENTER</a:t>
            </a:r>
            <a:r>
              <a:rPr lang="en-US" altLang="en-US"/>
              <a:t>: AMPWERA JAVAN</a:t>
            </a:r>
            <a:endParaRPr lang="en-US" altLang="en-US"/>
          </a:p>
          <a:p>
            <a:endParaRPr lang="en-US" altLang="en-US"/>
          </a:p>
          <a:p>
            <a:r>
              <a:rPr lang="en-US" altLang="en-US" b="1"/>
              <a:t>GROUP PROJECT</a:t>
            </a:r>
            <a:r>
              <a:rPr lang="en-US" altLang="en-US"/>
              <a:t>: ONLINE SHOPPING</a:t>
            </a:r>
            <a:endParaRPr lang="en-US" altLang="en-US"/>
          </a:p>
          <a:p>
            <a:endParaRPr lang="en-US" altLang="en-US"/>
          </a:p>
          <a:p>
            <a:r>
              <a:rPr lang="en-US" altLang="en-US" b="1"/>
              <a:t>AREA OF INTEREST</a:t>
            </a:r>
            <a:r>
              <a:rPr lang="en-US" altLang="en-US"/>
              <a:t>: FULFILLMENT AND LOGISTICS</a:t>
            </a:r>
            <a:endParaRPr lang="en-US" altLang="en-US"/>
          </a:p>
        </p:txBody>
      </p:sp>
    </p:spTree>
  </p:cSld>
  <p:clrMapOvr>
    <a:masterClrMapping/>
  </p:clrMapOvr>
  <p:transition>
    <p:wedg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5080" y="-1905"/>
            <a:ext cx="9133840" cy="52197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p>
            <a:pPr algn="ctr"/>
            <a:r>
              <a:rPr lang="" altLang="en-US" sz="2800" b="1">
                <a:solidFill>
                  <a:schemeClr val="bg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ABOUT THE DATABASE</a:t>
            </a:r>
            <a:endParaRPr lang="" altLang="en-US" sz="2800" b="1">
              <a:solidFill>
                <a:schemeClr val="bg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26390" y="787400"/>
            <a:ext cx="871156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" altLang="en-US"/>
              <a:t>I was able to create a database called </a:t>
            </a:r>
            <a:r>
              <a:rPr lang="" altLang="en-US" b="1">
                <a:latin typeface="Arial Black" panose="020B0A04020102020204" pitchFamily="34" charset="0"/>
                <a:cs typeface="Arial Black" panose="020B0A04020102020204" pitchFamily="34" charset="0"/>
              </a:rPr>
              <a:t>fulfillment_logistics_v2</a:t>
            </a:r>
            <a:endParaRPr lang="" altLang="en-US" b="1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endParaRPr lang="" altLang="en-US" b="1"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r>
              <a:rPr lang="" altLang="en-US">
                <a:latin typeface="+mj-ea"/>
                <a:cs typeface="+mj-ea"/>
              </a:rPr>
              <a:t>it is a database that handles how the the part from when the customer makes his order untill his order is delivered</a:t>
            </a:r>
            <a:endParaRPr lang="" altLang="en-US">
              <a:latin typeface="+mj-ea"/>
              <a:cs typeface="+mj-ea"/>
            </a:endParaRPr>
          </a:p>
          <a:p>
            <a:endParaRPr lang="" altLang="en-US">
              <a:latin typeface="+mj-ea"/>
              <a:cs typeface="+mj-ea"/>
            </a:endParaRPr>
          </a:p>
          <a:p>
            <a:r>
              <a:rPr lang="" altLang="en-US">
                <a:latin typeface="+mj-ea"/>
                <a:cs typeface="+mj-ea"/>
              </a:rPr>
              <a:t>it is able to store the customer's orders and even they track their orders</a:t>
            </a:r>
            <a:endParaRPr lang="" altLang="en-US">
              <a:latin typeface="+mj-ea"/>
              <a:cs typeface="+mj-ea"/>
            </a:endParaRPr>
          </a:p>
          <a:p>
            <a:endParaRPr lang="" altLang="en-US">
              <a:latin typeface="+mj-ea"/>
              <a:cs typeface="+mj-ea"/>
            </a:endParaRPr>
          </a:p>
        </p:txBody>
      </p:sp>
    </p:spTree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chemeClr val="tx1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DATABASE OVERVIEW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103120" cy="365760"/>
          </a:xfrm>
          <a:prstGeom prst="rect">
            <a:avLst/>
          </a:prstGeom>
          <a:solidFill>
            <a:schemeClr val="tx1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201168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customers stored</a:t>
            </a:r>
            <a:endParaRPr lang="en-US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560320" y="1005840"/>
            <a:ext cx="2103120" cy="365760"/>
          </a:xfrm>
          <a:prstGeom prst="rect">
            <a:avLst/>
          </a:prstGeom>
          <a:solidFill>
            <a:schemeClr val="tx1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00584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51760" y="1463040"/>
            <a:ext cx="1920240" cy="114236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orders tracked</a:t>
            </a:r>
            <a:endParaRPr lang="en-US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846320" y="1005840"/>
            <a:ext cx="2103120" cy="3657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005840"/>
            <a:ext cx="2103120" cy="36576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ORDER_ITEM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1463040"/>
            <a:ext cx="1920240" cy="105092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line items</a:t>
            </a:r>
            <a:endParaRPr lang="en-US" sz="2400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132320" y="1005840"/>
            <a:ext cx="1874520" cy="36576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223760" y="1463040"/>
            <a:ext cx="1920240" cy="105092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products</a:t>
            </a:r>
            <a:endParaRPr lang="en-US" sz="2000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74320" y="2697480"/>
            <a:ext cx="2103120" cy="365760"/>
          </a:xfrm>
          <a:prstGeom prst="rect">
            <a:avLst/>
          </a:prstGeom>
          <a:solidFill>
            <a:schemeClr val="tx1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185" y="269748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3154680"/>
            <a:ext cx="1920240" cy="1508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shipment records</a:t>
            </a:r>
            <a:endParaRPr lang="en-US" sz="2000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560320" y="2697480"/>
            <a:ext cx="2103120" cy="3657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0" y="2697480"/>
            <a:ext cx="2103120" cy="36576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SHIPMENT_ITEMS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651760" y="3154680"/>
            <a:ext cx="1920240" cy="12890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 details</a:t>
            </a:r>
            <a:endParaRPr lang="en-US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846320" y="2697480"/>
            <a:ext cx="2103120" cy="365760"/>
          </a:xfrm>
          <a:prstGeom prst="rect">
            <a:avLst/>
          </a:prstGeom>
          <a:solidFill>
            <a:schemeClr val="tx1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269748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37760" y="3154680"/>
            <a:ext cx="1920240" cy="150812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deliveries</a:t>
            </a:r>
            <a:endParaRPr lang="en-US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132320" y="2697480"/>
            <a:ext cx="1874520" cy="365760"/>
          </a:xfrm>
          <a:prstGeom prst="rect">
            <a:avLst/>
          </a:prstGeom>
          <a:solidFill>
            <a:schemeClr val="tx1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32320" y="269748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223760" y="3154680"/>
            <a:ext cx="1920240" cy="150812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return records</a:t>
            </a:r>
            <a:endParaRPr lang="en-US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  <p:transition>
    <p:split dir="in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chemeClr val="tx1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TABLE RELATIONSHIPS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2011680" cy="347472"/>
          </a:xfrm>
          <a:prstGeom prst="rect">
            <a:avLst/>
          </a:prstGeom>
          <a:solidFill>
            <a:schemeClr val="tx1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914400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" y="1261872"/>
            <a:ext cx="2011680" cy="274320"/>
          </a:xfrm>
          <a:prstGeom prst="rect">
            <a:avLst/>
          </a:prstGeom>
          <a:solidFill>
            <a:schemeClr val="bg1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61872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CustomerID 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1536192"/>
            <a:ext cx="20116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536192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2880" y="1810512"/>
            <a:ext cx="2011680" cy="274320"/>
          </a:xfrm>
          <a:prstGeom prst="rect">
            <a:avLst/>
          </a:prstGeom>
          <a:solidFill>
            <a:schemeClr val="bg1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810512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PhoneNumber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2880" y="2084832"/>
            <a:ext cx="20116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084832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82880" y="2359152"/>
            <a:ext cx="2011680" cy="27432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359152"/>
            <a:ext cx="1920240" cy="27432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474720" y="914400"/>
            <a:ext cx="2011680" cy="347472"/>
          </a:xfrm>
          <a:prstGeom prst="rect">
            <a:avLst/>
          </a:prstGeom>
          <a:solidFill>
            <a:schemeClr val="tx1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914400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74720" y="1261872"/>
            <a:ext cx="2011680" cy="274320"/>
          </a:xfrm>
          <a:prstGeom prst="rect">
            <a:avLst/>
          </a:prstGeom>
          <a:solidFill>
            <a:schemeClr val="bg1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1261872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74720" y="1536192"/>
            <a:ext cx="20116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66160" y="1536192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CustomerID 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474720" y="1810512"/>
            <a:ext cx="2011680" cy="274320"/>
          </a:xfrm>
          <a:prstGeom prst="rect">
            <a:avLst/>
          </a:prstGeom>
          <a:solidFill>
            <a:schemeClr val="bg1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0" y="1810512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OrderDate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74720" y="2084832"/>
            <a:ext cx="20116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66160" y="2084832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474720" y="2359152"/>
            <a:ext cx="2011680" cy="274320"/>
          </a:xfrm>
          <a:prstGeom prst="rect">
            <a:avLst/>
          </a:prstGeom>
          <a:solidFill>
            <a:schemeClr val="bg1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2359152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AmountPaid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766560" y="914400"/>
            <a:ext cx="2011680" cy="34747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0" y="914400"/>
            <a:ext cx="2011680" cy="347472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ORDER_ITEM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766560" y="1261872"/>
            <a:ext cx="2011680" cy="27432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0" y="1261872"/>
            <a:ext cx="1920240" cy="27432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OrderItemID 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766560" y="1536192"/>
            <a:ext cx="20116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0" y="1536192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OrderID 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766560" y="1810512"/>
            <a:ext cx="2011680" cy="274320"/>
          </a:xfrm>
          <a:prstGeom prst="rect">
            <a:avLst/>
          </a:prstGeom>
          <a:solidFill>
            <a:schemeClr val="bg1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1810512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ProductID 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766560" y="2084832"/>
            <a:ext cx="20116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0" y="2084832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766560" y="2359152"/>
            <a:ext cx="2011680" cy="27432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0" y="2359152"/>
            <a:ext cx="1920240" cy="27432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766560" y="3108960"/>
            <a:ext cx="2011680" cy="34747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66560" y="3108960"/>
            <a:ext cx="2011680" cy="347472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766560" y="3456432"/>
            <a:ext cx="2011680" cy="27432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0" y="3456432"/>
            <a:ext cx="1920240" cy="27432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ProductID 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766560" y="3730752"/>
            <a:ext cx="20116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0" y="3730752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ProductName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766560" y="4005072"/>
            <a:ext cx="2011680" cy="274320"/>
          </a:xfrm>
          <a:prstGeom prst="rect">
            <a:avLst/>
          </a:prstGeom>
          <a:solidFill>
            <a:schemeClr val="bg1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58000" y="4005072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StockLevel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766560" y="4279392"/>
            <a:ext cx="20116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58000" y="4279392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UnitCost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474720" y="3108960"/>
            <a:ext cx="2011680" cy="34747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74720" y="3108960"/>
            <a:ext cx="2011680" cy="347472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3474720" y="3456432"/>
            <a:ext cx="2011680" cy="27432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566160" y="3456432"/>
            <a:ext cx="1920240" cy="27432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DeliveryID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474720" y="3730752"/>
            <a:ext cx="20116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566160" y="3730752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OrderID (FK)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474720" y="4005072"/>
            <a:ext cx="2011680" cy="27432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474720" y="4004945"/>
            <a:ext cx="2011045" cy="370205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DeliveryStatus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182880" y="3108960"/>
            <a:ext cx="2011680" cy="34747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82880" y="3108960"/>
            <a:ext cx="2011680" cy="347472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182880" y="3456432"/>
            <a:ext cx="2011680" cy="27432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74320" y="3456432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ShipmentID 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182880" y="3730752"/>
            <a:ext cx="20116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74320" y="3730752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OrderID 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182880" y="4005072"/>
            <a:ext cx="2011680" cy="27432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74320" y="4005072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182880" y="4279392"/>
            <a:ext cx="20116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74320" y="4279392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ShipmentStatus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2194560" y="1371600"/>
            <a:ext cx="1280160" cy="0"/>
          </a:xfrm>
          <a:prstGeom prst="line">
            <a:avLst/>
          </a:prstGeom>
          <a:noFill/>
          <a:ln w="25400">
            <a:solidFill>
              <a:srgbClr val="1ABC9C"/>
            </a:solidFill>
            <a:prstDash val="dash"/>
          </a:ln>
        </p:spPr>
      </p:sp>
      <p:sp>
        <p:nvSpPr>
          <p:cNvPr id="69" name="Shape 67"/>
          <p:cNvSpPr/>
          <p:nvPr/>
        </p:nvSpPr>
        <p:spPr>
          <a:xfrm>
            <a:off x="5486400" y="1371600"/>
            <a:ext cx="1280160" cy="0"/>
          </a:xfrm>
          <a:prstGeom prst="line">
            <a:avLst/>
          </a:prstGeom>
          <a:noFill/>
          <a:ln w="25400">
            <a:solidFill>
              <a:srgbClr val="1ABC9C"/>
            </a:solidFill>
            <a:prstDash val="dash"/>
          </a:ln>
        </p:spPr>
      </p:sp>
      <p:sp>
        <p:nvSpPr>
          <p:cNvPr id="70" name="Shape 68"/>
          <p:cNvSpPr/>
          <p:nvPr/>
        </p:nvSpPr>
        <p:spPr>
          <a:xfrm>
            <a:off x="4480560" y="2286000"/>
            <a:ext cx="0" cy="822960"/>
          </a:xfrm>
          <a:prstGeom prst="line">
            <a:avLst/>
          </a:prstGeom>
          <a:noFill/>
          <a:ln w="25400">
            <a:solidFill>
              <a:srgbClr val="1ABC9C"/>
            </a:solidFill>
            <a:prstDash val="dash"/>
          </a:ln>
        </p:spPr>
      </p:sp>
      <p:sp>
        <p:nvSpPr>
          <p:cNvPr id="71" name="Shape 69"/>
          <p:cNvSpPr/>
          <p:nvPr/>
        </p:nvSpPr>
        <p:spPr>
          <a:xfrm>
            <a:off x="2377440" y="2286000"/>
            <a:ext cx="1097280" cy="0"/>
          </a:xfrm>
          <a:prstGeom prst="line">
            <a:avLst/>
          </a:prstGeom>
          <a:noFill/>
          <a:ln w="25400">
            <a:solidFill>
              <a:srgbClr val="1ABC9C"/>
            </a:solidFill>
            <a:prstDash val="dash"/>
          </a:ln>
        </p:spPr>
      </p:sp>
      <p:sp>
        <p:nvSpPr>
          <p:cNvPr id="72" name="Text 70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= Foreign Key  |  PK = Primary Key  |  Lines indicate table relationships</a:t>
            </a:r>
            <a:endParaRPr lang="en-US" sz="1000" dirty="0"/>
          </a:p>
        </p:txBody>
      </p:sp>
    </p:spTree>
  </p:cSld>
  <p:clrMapOvr>
    <a:masterClrMapping/>
  </p:clrMapOvr>
  <p:transition>
    <p:wipe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Screenshot from 2026-05-06 14-38-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655" y="949960"/>
            <a:ext cx="6836410" cy="395224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4" name="Text Box 3"/>
          <p:cNvSpPr txBox="1"/>
          <p:nvPr/>
        </p:nvSpPr>
        <p:spPr>
          <a:xfrm>
            <a:off x="-24765" y="1270"/>
            <a:ext cx="9138285" cy="52197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p>
            <a:pPr algn="ctr"/>
            <a:r>
              <a:rPr lang="en-US" altLang="en-US" sz="2800" b="1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  <a:cs typeface="Arial Black" panose="020B0A04020102020204" pitchFamily="34" charset="0"/>
              </a:rPr>
              <a:t>THE ER DIAGRAM OF THE DATABAS</a:t>
            </a:r>
            <a:r>
              <a:rPr lang="en-US" altLang="en-US" sz="280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  <a:cs typeface="Arial Black" panose="020B0A04020102020204" pitchFamily="34" charset="0"/>
              </a:rPr>
              <a:t>E</a:t>
            </a:r>
            <a:endParaRPr lang="en-US" altLang="en-US" sz="2800"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</p:spTree>
  </p:cSld>
  <p:clrMapOvr>
    <a:masterClrMapping/>
  </p:clrMapOvr>
  <p:transition>
    <p:wipe dir="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chemeClr val="tx1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BASIC DATA RETRIEVAL QUERIES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95360" cy="1414145"/>
          </a:xfrm>
          <a:prstGeom prst="rect">
            <a:avLst/>
          </a:prstGeom>
          <a:noFill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alt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databases; - </a:t>
            </a:r>
            <a:r>
              <a:rPr lang="en-US" alt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find your database</a:t>
            </a:r>
            <a:endParaRPr lang="en-US" altLang="en-US" sz="1600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altLang="en-US" sz="2000" b="1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alt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fulfillment_logistics_v2; - </a:t>
            </a:r>
            <a:r>
              <a:rPr lang="en-US" alt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the database</a:t>
            </a:r>
            <a:endParaRPr lang="en-US" altLang="en-US" sz="2000" b="1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altLang="en-US" sz="2000" b="1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All Customers</a:t>
            </a:r>
            <a:endParaRPr lang="en-US" sz="2000" b="1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2000" b="1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11480" y="2374265"/>
            <a:ext cx="8229600" cy="4210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CUSTOMER;</a:t>
            </a:r>
            <a:endParaRPr lang="en-US" dirty="0">
              <a:solidFill>
                <a:schemeClr val="tx1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74320" y="2795270"/>
            <a:ext cx="8595360" cy="646430"/>
          </a:xfrm>
          <a:prstGeom prst="rect">
            <a:avLst/>
          </a:prstGeom>
          <a:noFill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All Orders with Customer Details (JOIN)</a:t>
            </a:r>
            <a:endParaRPr lang="en-US" sz="1600" b="1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65760" y="3277870"/>
            <a:ext cx="8321040" cy="797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Liberation Serif" panose="02020603050405020304" charset="0"/>
                <a:ea typeface="Consolas" pitchFamily="34" charset="-122"/>
                <a:cs typeface="Liberation Serif" panose="02020603050405020304" charset="0"/>
              </a:rPr>
              <a:t>SELECT C.Name, O.OrderID, O.OrderDate, O.Status, O.AmountPaid
FROM ORDERS O JOIN CUSTOMER C ON O.C</a:t>
            </a:r>
            <a:r>
              <a:rPr lang="en-US" sz="1600" dirty="0">
                <a:solidFill>
                  <a:srgbClr val="FFFFFF"/>
                </a:solidFill>
                <a:latin typeface="Liberation Serif" panose="02020603050405020304" charset="0"/>
                <a:ea typeface="Consolas" pitchFamily="34" charset="-122"/>
                <a:cs typeface="Liberation Serif" panose="02020603050405020304" charset="0"/>
              </a:rPr>
              <a:t>us</a:t>
            </a: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merID = C.CustomerID;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" y="3884295"/>
            <a:ext cx="8595360" cy="484505"/>
          </a:xfrm>
          <a:prstGeom prst="rect">
            <a:avLst/>
          </a:prstGeom>
          <a:noFill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Filter Pending Orders</a:t>
            </a:r>
            <a:endParaRPr lang="en-US" b="1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65760" y="4075430"/>
            <a:ext cx="8321040" cy="995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ORDERS WHERE Status = 'PENDING'</a:t>
            </a:r>
            <a:r>
              <a:rPr lang="en-US" sz="1300" dirty="0">
                <a:solidFill>
                  <a:srgbClr val="F1C4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</p:txBody>
      </p:sp>
    </p:spTree>
  </p:cSld>
  <p:clrMapOvr>
    <a:masterClrMapping/>
  </p:clrMapOvr>
  <p:transition>
    <p:wipe dir="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chemeClr val="tx1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" altLang="en-US" sz="2400" b="1" dirty="0">
                <a:solidFill>
                  <a:schemeClr val="bg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advantages otf this database</a:t>
            </a:r>
            <a:endParaRPr lang="" altLang="en-US" sz="2400" b="1" dirty="0">
              <a:solidFill>
                <a:schemeClr val="bg1"/>
              </a:solidFill>
              <a:latin typeface="Arial Black" panose="020B0A04020102020204" pitchFamily="34" charset="0"/>
              <a:ea typeface="Arial Black" panose="020B0A04020102020204" pitchFamily="34" charset="-122"/>
              <a:cs typeface="Arial Black" panose="020B0A04020102020204" pitchFamily="34" charset="-120"/>
            </a:endParaRPr>
          </a:p>
        </p:txBody>
      </p:sp>
      <p:sp>
        <p:nvSpPr>
          <p:cNvPr id="19" name="Text Box 18"/>
          <p:cNvSpPr txBox="1"/>
          <p:nvPr/>
        </p:nvSpPr>
        <p:spPr>
          <a:xfrm>
            <a:off x="534670" y="1166495"/>
            <a:ext cx="841819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" altLang="en-US"/>
              <a:t>using querries one is able obtain specific information from the database</a:t>
            </a:r>
            <a:endParaRPr lang="" altLang="en-US"/>
          </a:p>
          <a:p>
            <a:endParaRPr lang="" altLang="en-US"/>
          </a:p>
          <a:p>
            <a:r>
              <a:rPr lang="" altLang="en-US"/>
              <a:t>Easy Tracking of Order Status</a:t>
            </a:r>
            <a:endParaRPr lang="" altLang="en-US"/>
          </a:p>
          <a:p>
            <a:endParaRPr lang="" altLang="en-US"/>
          </a:p>
          <a:p>
            <a:r>
              <a:rPr lang="" altLang="en-US"/>
              <a:t>Clear Separation of Responsibilities</a:t>
            </a:r>
            <a:endParaRPr lang="" altLang="en-US"/>
          </a:p>
        </p:txBody>
      </p:sp>
    </p:spTree>
  </p:cSld>
  <p:clrMapOvr>
    <a:masterClrMapping/>
  </p:clrMapOvr>
  <p:transition>
    <p:cut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chemeClr val="tx1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bg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DELIVERY &amp; SHIPMENT TRACKING QUERIES</a:t>
            </a:r>
            <a:endParaRPr lang="en-US" sz="2100" b="1" dirty="0">
              <a:solidFill>
                <a:schemeClr val="bg1"/>
              </a:solidFill>
              <a:latin typeface="Arial Black" panose="020B0A04020102020204" pitchFamily="34" charset="0"/>
              <a:ea typeface="Arial Black" panose="020B0A04020102020204" pitchFamily="34" charset="-122"/>
              <a:cs typeface="Arial Black" panose="020B0A0402010202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8595360" cy="292608"/>
          </a:xfrm>
          <a:prstGeom prst="rect">
            <a:avLst/>
          </a:prstGeom>
          <a:noFill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Track Order Delivery Status</a:t>
            </a:r>
            <a:endParaRPr lang="en-US" sz="2000" b="1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14" name="Picture 13" descr="Screenshot from 2026-05-06 16-20-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120" y="1695450"/>
            <a:ext cx="8284845" cy="3078480"/>
          </a:xfrm>
          <a:prstGeom prst="rect">
            <a:avLst/>
          </a:prstGeom>
        </p:spPr>
      </p:pic>
    </p:spTree>
  </p:cSld>
  <p:clrMapOvr>
    <a:masterClrMapping/>
  </p:clrMapOvr>
  <p:transition>
    <p:dissolv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QUERY REFERENCE SUMMARY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274320" y="896112"/>
          <a:ext cx="8595360" cy="3977644"/>
        </p:xfrm>
        <a:graphic>
          <a:graphicData uri="http://schemas.openxmlformats.org/drawingml/2006/table">
            <a:tbl>
              <a:tblPr/>
              <a:tblGrid>
                <a:gridCol w="411480"/>
                <a:gridCol w="2468880"/>
                <a:gridCol w="2743200"/>
                <a:gridCol w="2971800"/>
              </a:tblGrid>
              <a:tr h="3613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Purpose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Concepts Used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Tables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361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Retrieve all customers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 *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</a:tr>
              <a:tr h="361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 with customer names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JOIN, SELECT columns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ORDERS, CUSTOMER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</a:tr>
              <a:tr h="361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 pending orders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WHERE, enum filter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</a:tr>
              <a:tr h="361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per customer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BY, SUM, ORDER BY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ORDERS, CUSTOMER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</a:tr>
              <a:tr h="361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Q5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order breakdown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3-Way JOIN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ORDER_ITEM, ORDERS, CUSTOMER, INVENTORY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</a:tr>
              <a:tr h="361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Q6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stock alert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WHERE, ORDER BY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</a:tr>
              <a:tr h="361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Q7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 delivery status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JOIN, SELECT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DELIVERY, ORDERS, CUSTOMER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</a:tr>
              <a:tr h="361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Q8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shipments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WHERE, enum filter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SHIPMENT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</a:tr>
              <a:tr h="361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Q9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+ refund status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RETURNS, ORDERS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</a:tr>
              <a:tr h="361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Q10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 value report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Computed column, ORDER BY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343535"/>
            <a:ext cx="77724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BC9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PROJECT SUMMARY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7772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5D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database system achieves: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45336"/>
            <a:ext cx="2103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chemeClr val="bg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Order Management</a:t>
            </a:r>
            <a:endParaRPr lang="en-US" sz="1600" b="1" dirty="0">
              <a:solidFill>
                <a:schemeClr val="bg1"/>
              </a:solidFill>
              <a:effectLst/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834640" y="1545336"/>
            <a:ext cx="5760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 customer orders from placement through delivery with status enum control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203704"/>
            <a:ext cx="2103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Control</a:t>
            </a:r>
            <a:endParaRPr lang="en-US" b="1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834640" y="2203704"/>
            <a:ext cx="5760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 products with stock levels, warehouse locations &amp; unit costs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862072"/>
            <a:ext cx="2103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Shipment Tracking</a:t>
            </a:r>
            <a:endParaRPr lang="en-US" sz="1600" b="1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834640" y="2862072"/>
            <a:ext cx="5760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carriers (SafeBoda, DHL, G4S) with tracking numbers per order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520440"/>
            <a:ext cx="2103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Returns Processing</a:t>
            </a:r>
            <a:endParaRPr lang="en-US" sz="1400" b="1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834640" y="3520440"/>
            <a:ext cx="5760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cancellations &amp; returns with condition assessment &amp; refund workflow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4178808"/>
            <a:ext cx="2103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1600" b="1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834640" y="4178808"/>
            <a:ext cx="5760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aggregate queries reveal revenue trends, top customers &amp; stock alerts</a:t>
            </a:r>
            <a:endParaRPr lang="en-US" sz="1400" dirty="0"/>
          </a:p>
        </p:txBody>
      </p:sp>
    </p:spTree>
  </p:cSld>
  <p:clrMapOvr>
    <a:masterClrMapping/>
  </p:clrMapOvr>
  <p:transition>
    <p:dissolv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2800</Words>
  <Application>WPS Presentation</Application>
  <PresentationFormat>On-screen Show (16:9)</PresentationFormat>
  <Paragraphs>271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33" baseType="lpstr">
      <vt:lpstr>Arial</vt:lpstr>
      <vt:lpstr>SimSun</vt:lpstr>
      <vt:lpstr>Wingdings</vt:lpstr>
      <vt:lpstr>Arial Black</vt:lpstr>
      <vt:lpstr>Arial Black</vt:lpstr>
      <vt:lpstr>Arial Black</vt:lpstr>
      <vt:lpstr>Calibri</vt:lpstr>
      <vt:lpstr>Calibri</vt:lpstr>
      <vt:lpstr>Calibri</vt:lpstr>
      <vt:lpstr>Consolas</vt:lpstr>
      <vt:lpstr>Consolas</vt:lpstr>
      <vt:lpstr>Consolas</vt:lpstr>
      <vt:lpstr>Liberation Serif</vt:lpstr>
      <vt:lpstr>微软雅黑</vt:lpstr>
      <vt:lpstr>Droid Sans Fallback</vt:lpstr>
      <vt:lpstr>Arial Unicode MS</vt:lpstr>
      <vt:lpstr>URW Bookman</vt:lpstr>
      <vt:lpstr>Noto Sans Symbols2</vt:lpstr>
      <vt:lpstr>Standard Symbols PS</vt:lpstr>
      <vt:lpstr>Times New Roman</vt:lpstr>
      <vt:lpstr>Calibri Light</vt:lpstr>
      <vt:lpstr>Andale Mono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Fulfillment &amp; Logistics Database Project</dc:title>
  <dc:creator>PptxGenJS</dc:creator>
  <dc:subject>PptxGenJS Presentation</dc:subject>
  <cp:lastModifiedBy>mr-ampwera-javan</cp:lastModifiedBy>
  <cp:revision>5</cp:revision>
  <dcterms:created xsi:type="dcterms:W3CDTF">2026-05-06T13:50:40Z</dcterms:created>
  <dcterms:modified xsi:type="dcterms:W3CDTF">2026-05-06T13:50:40Z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1033-10.1.0.6757</vt:lpwstr>
  </property>
</Properties>
</file>